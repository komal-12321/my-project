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Alexandria"/>
      <p:regular r:id="rId18"/>
    </p:embeddedFont>
    <p:embeddedFont>
      <p:font typeface="Alexandria"/>
      <p:regular r:id="rId19"/>
    </p:embeddedFont>
    <p:embeddedFont>
      <p:font typeface="Nobile"/>
      <p:regular r:id="rId20"/>
    </p:embeddedFont>
    <p:embeddedFont>
      <p:font typeface="Nobile"/>
      <p:regular r:id="rId21"/>
    </p:embeddedFont>
    <p:embeddedFont>
      <p:font typeface="Nobile"/>
      <p:regular r:id="rId22"/>
    </p:embeddedFont>
    <p:embeddedFont>
      <p:font typeface="Nobile"/>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959048"/>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A PRESENTATION ON</a:t>
            </a:r>
            <a:endParaRPr lang="en-US" sz="1250" dirty="0"/>
          </a:p>
        </p:txBody>
      </p:sp>
      <p:sp>
        <p:nvSpPr>
          <p:cNvPr id="3" name="Text 1"/>
          <p:cNvSpPr/>
          <p:nvPr/>
        </p:nvSpPr>
        <p:spPr>
          <a:xfrm>
            <a:off x="793790" y="1286113"/>
            <a:ext cx="13042821" cy="1984772"/>
          </a:xfrm>
          <a:prstGeom prst="rect">
            <a:avLst/>
          </a:prstGeom>
          <a:noFill/>
          <a:ln/>
        </p:spPr>
        <p:txBody>
          <a:bodyPr wrap="square" lIns="0" tIns="0" rIns="0" bIns="0" rtlCol="0" anchor="t"/>
          <a:lstStyle/>
          <a:p>
            <a:pPr algn="ctr" indent="0" marL="0">
              <a:lnSpc>
                <a:spcPts val="7800"/>
              </a:lnSpc>
              <a:buNone/>
            </a:pPr>
            <a:r>
              <a:rPr lang="en-US" sz="6250" dirty="0">
                <a:solidFill>
                  <a:srgbClr val="1B1B27"/>
                </a:solidFill>
                <a:latin typeface="Alexandria" pitchFamily="34" charset="0"/>
                <a:ea typeface="Alexandria" pitchFamily="34" charset="-122"/>
                <a:cs typeface="Alexandria" pitchFamily="34" charset="-120"/>
              </a:rPr>
              <a:t>"Operating System-Level Virtualization"</a:t>
            </a:r>
            <a:endParaRPr lang="en-US" sz="6250" dirty="0"/>
          </a:p>
        </p:txBody>
      </p:sp>
      <p:sp>
        <p:nvSpPr>
          <p:cNvPr id="4" name="Text 2"/>
          <p:cNvSpPr/>
          <p:nvPr/>
        </p:nvSpPr>
        <p:spPr>
          <a:xfrm>
            <a:off x="793790" y="3437573"/>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By</a:t>
            </a:r>
            <a:endParaRPr lang="en-US" sz="1250" dirty="0"/>
          </a:p>
        </p:txBody>
      </p:sp>
      <p:sp>
        <p:nvSpPr>
          <p:cNvPr id="5" name="Text 3"/>
          <p:cNvSpPr/>
          <p:nvPr/>
        </p:nvSpPr>
        <p:spPr>
          <a:xfrm>
            <a:off x="793790" y="3778568"/>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Komal Anil Patel_BTech_B_221101125</a:t>
            </a:r>
            <a:endParaRPr lang="en-US" sz="1250" dirty="0"/>
          </a:p>
        </p:txBody>
      </p:sp>
      <p:sp>
        <p:nvSpPr>
          <p:cNvPr id="6" name="Text 4"/>
          <p:cNvSpPr/>
          <p:nvPr/>
        </p:nvSpPr>
        <p:spPr>
          <a:xfrm>
            <a:off x="793790" y="4119563"/>
            <a:ext cx="13042821" cy="431959"/>
          </a:xfrm>
          <a:prstGeom prst="rect">
            <a:avLst/>
          </a:prstGeom>
          <a:noFill/>
          <a:ln/>
        </p:spPr>
        <p:txBody>
          <a:bodyPr wrap="square" lIns="0" tIns="0" rIns="0" bIns="0" rtlCol="0" anchor="t"/>
          <a:lstStyle/>
          <a:p>
            <a:pPr algn="l" indent="0" marL="0">
              <a:lnSpc>
                <a:spcPts val="1700"/>
              </a:lnSpc>
              <a:buNone/>
            </a:pPr>
            <a:r>
              <a:rPr lang="en-US" sz="1250" dirty="0">
                <a:solidFill>
                  <a:srgbClr val="404155"/>
                </a:solidFill>
                <a:latin typeface="Nobile" pitchFamily="34" charset="0"/>
                <a:ea typeface="Nobile" pitchFamily="34" charset="-122"/>
                <a:cs typeface="Nobile" pitchFamily="34" charset="-120"/>
              </a:rPr>
              <a:t>     </a:t>
            </a:r>
            <a:endParaRPr lang="en-US" sz="1250" dirty="0"/>
          </a:p>
        </p:txBody>
      </p:sp>
      <p:sp>
        <p:nvSpPr>
          <p:cNvPr id="7" name="Text 5"/>
          <p:cNvSpPr/>
          <p:nvPr/>
        </p:nvSpPr>
        <p:spPr>
          <a:xfrm>
            <a:off x="793790" y="4676537"/>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Subject Name: Social Network Analysis</a:t>
            </a:r>
            <a:endParaRPr lang="en-US" sz="1250" dirty="0"/>
          </a:p>
        </p:txBody>
      </p:sp>
      <p:sp>
        <p:nvSpPr>
          <p:cNvPr id="8" name="Text 6"/>
          <p:cNvSpPr/>
          <p:nvPr/>
        </p:nvSpPr>
        <p:spPr>
          <a:xfrm>
            <a:off x="793790" y="5017532"/>
            <a:ext cx="13042821" cy="431959"/>
          </a:xfrm>
          <a:prstGeom prst="rect">
            <a:avLst/>
          </a:prstGeom>
          <a:noFill/>
          <a:ln/>
        </p:spPr>
        <p:txBody>
          <a:bodyPr wrap="square" lIns="0" tIns="0" rIns="0" bIns="0" rtlCol="0" anchor="t"/>
          <a:lstStyle/>
          <a:p>
            <a:pPr algn="l" indent="0" marL="0">
              <a:lnSpc>
                <a:spcPts val="1700"/>
              </a:lnSpc>
              <a:buNone/>
            </a:pPr>
            <a:r>
              <a:rPr lang="en-US" sz="1250" dirty="0">
                <a:solidFill>
                  <a:srgbClr val="404155"/>
                </a:solidFill>
                <a:latin typeface="Nobile" pitchFamily="34" charset="0"/>
                <a:ea typeface="Nobile" pitchFamily="34" charset="-122"/>
                <a:cs typeface="Nobile" pitchFamily="34" charset="-120"/>
              </a:rPr>
              <a:t>     </a:t>
            </a:r>
            <a:endParaRPr lang="en-US" sz="1250" dirty="0"/>
          </a:p>
        </p:txBody>
      </p:sp>
      <p:sp>
        <p:nvSpPr>
          <p:cNvPr id="9" name="Text 7"/>
          <p:cNvSpPr/>
          <p:nvPr/>
        </p:nvSpPr>
        <p:spPr>
          <a:xfrm>
            <a:off x="793790" y="5574506"/>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Under the Guidance of</a:t>
            </a:r>
            <a:endParaRPr lang="en-US" sz="1250" dirty="0"/>
          </a:p>
        </p:txBody>
      </p:sp>
      <p:sp>
        <p:nvSpPr>
          <p:cNvPr id="10" name="Text 8"/>
          <p:cNvSpPr/>
          <p:nvPr/>
        </p:nvSpPr>
        <p:spPr>
          <a:xfrm>
            <a:off x="793790" y="5915501"/>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Prof. S. B. Raghuwanshi</a:t>
            </a:r>
            <a:endParaRPr lang="en-US" sz="1250" dirty="0"/>
          </a:p>
        </p:txBody>
      </p:sp>
      <p:sp>
        <p:nvSpPr>
          <p:cNvPr id="11" name="Text 9"/>
          <p:cNvSpPr/>
          <p:nvPr/>
        </p:nvSpPr>
        <p:spPr>
          <a:xfrm>
            <a:off x="793790" y="6256496"/>
            <a:ext cx="13042821" cy="431959"/>
          </a:xfrm>
          <a:prstGeom prst="rect">
            <a:avLst/>
          </a:prstGeom>
          <a:noFill/>
          <a:ln/>
        </p:spPr>
        <p:txBody>
          <a:bodyPr wrap="square" lIns="0" tIns="0" rIns="0" bIns="0" rtlCol="0" anchor="t"/>
          <a:lstStyle/>
          <a:p>
            <a:pPr algn="l" indent="0" marL="0">
              <a:lnSpc>
                <a:spcPts val="1700"/>
              </a:lnSpc>
              <a:buNone/>
            </a:pPr>
            <a:r>
              <a:rPr lang="en-US" sz="1250" dirty="0">
                <a:solidFill>
                  <a:srgbClr val="404155"/>
                </a:solidFill>
                <a:latin typeface="Nobile" pitchFamily="34" charset="0"/>
                <a:ea typeface="Nobile" pitchFamily="34" charset="-122"/>
                <a:cs typeface="Nobile" pitchFamily="34" charset="-120"/>
              </a:rPr>
              <a:t>     </a:t>
            </a:r>
            <a:endParaRPr lang="en-US" sz="1250" dirty="0"/>
          </a:p>
        </p:txBody>
      </p:sp>
      <p:sp>
        <p:nvSpPr>
          <p:cNvPr id="12" name="Text 10"/>
          <p:cNvSpPr/>
          <p:nvPr/>
        </p:nvSpPr>
        <p:spPr>
          <a:xfrm>
            <a:off x="793790" y="6813471"/>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R. C. PATEL INSTITUTE OF TECHNOLOGY</a:t>
            </a:r>
            <a:endParaRPr lang="en-US" sz="1250" dirty="0"/>
          </a:p>
        </p:txBody>
      </p:sp>
      <p:sp>
        <p:nvSpPr>
          <p:cNvPr id="13" name="Text 11"/>
          <p:cNvSpPr/>
          <p:nvPr/>
        </p:nvSpPr>
        <p:spPr>
          <a:xfrm>
            <a:off x="793790" y="7154466"/>
            <a:ext cx="13042821" cy="215979"/>
          </a:xfrm>
          <a:prstGeom prst="rect">
            <a:avLst/>
          </a:prstGeom>
          <a:noFill/>
          <a:ln/>
        </p:spPr>
        <p:txBody>
          <a:bodyPr wrap="none" lIns="0" tIns="0" rIns="0" bIns="0" rtlCol="0" anchor="t"/>
          <a:lstStyle/>
          <a:p>
            <a:pPr algn="ctr" indent="0" marL="0">
              <a:lnSpc>
                <a:spcPts val="1700"/>
              </a:lnSpc>
              <a:buNone/>
            </a:pPr>
            <a:r>
              <a:rPr lang="en-US" sz="1250" dirty="0">
                <a:solidFill>
                  <a:srgbClr val="404155"/>
                </a:solidFill>
                <a:latin typeface="Nobile" pitchFamily="34" charset="0"/>
                <a:ea typeface="Nobile" pitchFamily="34" charset="-122"/>
                <a:cs typeface="Nobile" pitchFamily="34" charset="-120"/>
              </a:rPr>
              <a:t>An Autonomous Institute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2551748"/>
          </a:xfrm>
          <a:prstGeom prst="rect">
            <a:avLst/>
          </a:prstGeom>
          <a:solidFill>
            <a:srgbClr val="D2DDF9"/>
          </a:solidFill>
          <a:ln/>
        </p:spPr>
      </p:sp>
      <p:pic>
        <p:nvPicPr>
          <p:cNvPr id="3" name="Image 0" descr="preencoded.png">    </p:cNvPr>
          <p:cNvPicPr>
            <a:picLocks noChangeAspect="1"/>
          </p:cNvPicPr>
          <p:nvPr/>
        </p:nvPicPr>
        <p:blipFill>
          <a:blip r:embed="rId1"/>
          <a:stretch>
            <a:fillRect/>
          </a:stretch>
        </p:blipFill>
        <p:spPr>
          <a:xfrm>
            <a:off x="5554385" y="102037"/>
            <a:ext cx="3521512" cy="2347674"/>
          </a:xfrm>
          <a:prstGeom prst="rect">
            <a:avLst/>
          </a:prstGeom>
        </p:spPr>
      </p:pic>
      <p:sp>
        <p:nvSpPr>
          <p:cNvPr id="4" name="Text 1"/>
          <p:cNvSpPr/>
          <p:nvPr/>
        </p:nvSpPr>
        <p:spPr>
          <a:xfrm>
            <a:off x="793790" y="3280529"/>
            <a:ext cx="5103614" cy="637937"/>
          </a:xfrm>
          <a:prstGeom prst="rect">
            <a:avLst/>
          </a:prstGeom>
          <a:noFill/>
          <a:ln/>
        </p:spPr>
        <p:txBody>
          <a:bodyPr wrap="none" lIns="0" tIns="0" rIns="0" bIns="0" rtlCol="0" anchor="t"/>
          <a:lstStyle/>
          <a:p>
            <a:pPr algn="l" indent="0" marL="0">
              <a:lnSpc>
                <a:spcPts val="5000"/>
              </a:lnSpc>
              <a:buNone/>
            </a:pPr>
            <a:r>
              <a:rPr lang="en-US" sz="4000" dirty="0">
                <a:solidFill>
                  <a:srgbClr val="1B1B27"/>
                </a:solidFill>
                <a:latin typeface="Alexandria" pitchFamily="34" charset="0"/>
                <a:ea typeface="Alexandria" pitchFamily="34" charset="-122"/>
                <a:cs typeface="Alexandria" pitchFamily="34" charset="-120"/>
              </a:rPr>
              <a:t>Content</a:t>
            </a:r>
            <a:endParaRPr lang="en-US" sz="4000" dirty="0"/>
          </a:p>
        </p:txBody>
      </p:sp>
      <p:sp>
        <p:nvSpPr>
          <p:cNvPr id="5" name="Text 2"/>
          <p:cNvSpPr/>
          <p:nvPr/>
        </p:nvSpPr>
        <p:spPr>
          <a:xfrm>
            <a:off x="793790" y="4193977"/>
            <a:ext cx="13042821" cy="3306842"/>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What is Virtualization?</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Why Do We Need It?</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The Problem: Wasted Computer Power</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The Solution: Containers</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How Containers Work</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Real-World Examples</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Benefits of Containers</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The Future</a:t>
            </a:r>
            <a:endParaRPr lang="en-US" sz="1600" dirty="0"/>
          </a:p>
          <a:p>
            <a:pPr algn="l" marL="342900" indent="-342900">
              <a:lnSpc>
                <a:spcPts val="2400"/>
              </a:lnSpc>
              <a:buSzPct val="100000"/>
              <a:buChar char="•"/>
            </a:pPr>
            <a:r>
              <a:rPr lang="en-US" sz="1600" dirty="0">
                <a:solidFill>
                  <a:srgbClr val="404155"/>
                </a:solidFill>
                <a:latin typeface="Nobile" pitchFamily="34" charset="0"/>
                <a:ea typeface="Nobile" pitchFamily="34" charset="-122"/>
                <a:cs typeface="Nobile" pitchFamily="34" charset="-120"/>
              </a:rPr>
              <a:t>Conclusion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92612"/>
            <a:ext cx="6320076"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What is Virtualization?</a:t>
            </a:r>
            <a:endParaRPr lang="en-US" sz="4450" dirty="0"/>
          </a:p>
        </p:txBody>
      </p:sp>
      <p:sp>
        <p:nvSpPr>
          <p:cNvPr id="3" name="Text 1"/>
          <p:cNvSpPr/>
          <p:nvPr/>
        </p:nvSpPr>
        <p:spPr>
          <a:xfrm>
            <a:off x="793790" y="2145625"/>
            <a:ext cx="7604284" cy="314110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Virtualization means running many programs on one computer at the same time.</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Instead of one program using the whole computer, we split the computer's power among many programs.</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Each program thinks it has its own computer, but they all share the same machine.</a:t>
            </a:r>
            <a:endParaRPr lang="en-US" sz="1750" dirty="0"/>
          </a:p>
          <a:p>
            <a:pPr algn="l" marL="342900" indent="-342900">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It's like having many rooms in one building instead of many separate buildings.</a:t>
            </a:r>
            <a:endParaRPr lang="en-US" sz="1750" dirty="0"/>
          </a:p>
        </p:txBody>
      </p:sp>
      <p:pic>
        <p:nvPicPr>
          <p:cNvPr id="4" name="Image 0" descr="preencoded.png">    </p:cNvPr>
          <p:cNvPicPr>
            <a:picLocks noChangeAspect="1"/>
          </p:cNvPicPr>
          <p:nvPr/>
        </p:nvPicPr>
        <p:blipFill>
          <a:blip r:embed="rId1"/>
          <a:stretch>
            <a:fillRect/>
          </a:stretch>
        </p:blipFill>
        <p:spPr>
          <a:xfrm>
            <a:off x="8959096" y="2196703"/>
            <a:ext cx="4885015" cy="48850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77058"/>
            <a:ext cx="5741194"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Why Do We Need It?</a:t>
            </a:r>
            <a:endParaRPr lang="en-US" sz="4450" dirty="0"/>
          </a:p>
        </p:txBody>
      </p:sp>
      <p:sp>
        <p:nvSpPr>
          <p:cNvPr id="3" name="Shape 1"/>
          <p:cNvSpPr/>
          <p:nvPr/>
        </p:nvSpPr>
        <p:spPr>
          <a:xfrm>
            <a:off x="630436" y="3225998"/>
            <a:ext cx="4260056" cy="2826544"/>
          </a:xfrm>
          <a:prstGeom prst="roundRect">
            <a:avLst>
              <a:gd name="adj" fmla="val 5778"/>
            </a:avLst>
          </a:prstGeom>
          <a:solidFill>
            <a:srgbClr val="E9D5FF"/>
          </a:solidFill>
          <a:ln/>
        </p:spPr>
      </p:sp>
      <p:sp>
        <p:nvSpPr>
          <p:cNvPr id="4" name="Text 2"/>
          <p:cNvSpPr/>
          <p:nvPr/>
        </p:nvSpPr>
        <p:spPr>
          <a:xfrm>
            <a:off x="857250" y="3452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exandria" pitchFamily="34" charset="0"/>
                <a:ea typeface="Alexandria" pitchFamily="34" charset="-122"/>
                <a:cs typeface="Alexandria" pitchFamily="34" charset="-120"/>
              </a:rPr>
              <a:t>Save Money</a:t>
            </a:r>
            <a:endParaRPr lang="en-US" sz="2200" dirty="0"/>
          </a:p>
        </p:txBody>
      </p:sp>
      <p:sp>
        <p:nvSpPr>
          <p:cNvPr id="5" name="Text 3"/>
          <p:cNvSpPr/>
          <p:nvPr/>
        </p:nvSpPr>
        <p:spPr>
          <a:xfrm>
            <a:off x="857250" y="4033957"/>
            <a:ext cx="3806428"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Computers are expensive. Instead of buying many computers, we can use one powerful computer and split it among many programs. This saves a lot of money.</a:t>
            </a:r>
            <a:endParaRPr lang="en-US" sz="1750" dirty="0"/>
          </a:p>
        </p:txBody>
      </p:sp>
      <p:sp>
        <p:nvSpPr>
          <p:cNvPr id="6" name="Shape 4"/>
          <p:cNvSpPr/>
          <p:nvPr/>
        </p:nvSpPr>
        <p:spPr>
          <a:xfrm>
            <a:off x="5124807" y="3225998"/>
            <a:ext cx="4395907" cy="2826544"/>
          </a:xfrm>
          <a:prstGeom prst="roundRect">
            <a:avLst>
              <a:gd name="adj" fmla="val 5778"/>
            </a:avLst>
          </a:prstGeom>
          <a:solidFill>
            <a:srgbClr val="E9D5FF"/>
          </a:solidFill>
          <a:ln/>
        </p:spPr>
      </p:sp>
      <p:sp>
        <p:nvSpPr>
          <p:cNvPr id="7" name="Text 5"/>
          <p:cNvSpPr/>
          <p:nvPr/>
        </p:nvSpPr>
        <p:spPr>
          <a:xfrm>
            <a:off x="5351621" y="3452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exandria" pitchFamily="34" charset="0"/>
                <a:ea typeface="Alexandria" pitchFamily="34" charset="-122"/>
                <a:cs typeface="Alexandria" pitchFamily="34" charset="-120"/>
              </a:rPr>
              <a:t>Use Power Better</a:t>
            </a:r>
            <a:endParaRPr lang="en-US" sz="2200" dirty="0"/>
          </a:p>
        </p:txBody>
      </p:sp>
      <p:sp>
        <p:nvSpPr>
          <p:cNvPr id="8" name="Text 6"/>
          <p:cNvSpPr/>
          <p:nvPr/>
        </p:nvSpPr>
        <p:spPr>
          <a:xfrm>
            <a:off x="5351621" y="4033957"/>
            <a:ext cx="3942278"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Old computers waste a lot of power. One program uses only a small part of the computer, leaving the rest unused. Virtualization uses the computer's power better.</a:t>
            </a:r>
            <a:endParaRPr lang="en-US" sz="1750" dirty="0"/>
          </a:p>
        </p:txBody>
      </p:sp>
      <p:sp>
        <p:nvSpPr>
          <p:cNvPr id="9" name="Shape 7"/>
          <p:cNvSpPr/>
          <p:nvPr/>
        </p:nvSpPr>
        <p:spPr>
          <a:xfrm>
            <a:off x="9755029" y="3225998"/>
            <a:ext cx="4260056" cy="2826544"/>
          </a:xfrm>
          <a:prstGeom prst="roundRect">
            <a:avLst>
              <a:gd name="adj" fmla="val 5778"/>
            </a:avLst>
          </a:prstGeom>
          <a:solidFill>
            <a:srgbClr val="E9D5FF"/>
          </a:solidFill>
          <a:ln/>
        </p:spPr>
      </p:sp>
      <p:sp>
        <p:nvSpPr>
          <p:cNvPr id="10" name="Text 8"/>
          <p:cNvSpPr/>
          <p:nvPr/>
        </p:nvSpPr>
        <p:spPr>
          <a:xfrm>
            <a:off x="9981843" y="3452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exandria" pitchFamily="34" charset="0"/>
                <a:ea typeface="Alexandria" pitchFamily="34" charset="-122"/>
                <a:cs typeface="Alexandria" pitchFamily="34" charset="-120"/>
              </a:rPr>
              <a:t>Work Faster</a:t>
            </a:r>
            <a:endParaRPr lang="en-US" sz="2200" dirty="0"/>
          </a:p>
        </p:txBody>
      </p:sp>
      <p:sp>
        <p:nvSpPr>
          <p:cNvPr id="11" name="Text 9"/>
          <p:cNvSpPr/>
          <p:nvPr/>
        </p:nvSpPr>
        <p:spPr>
          <a:xfrm>
            <a:off x="9981843" y="4033957"/>
            <a:ext cx="3806428"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We can start new programs in seconds instead of hours. This helps companies work faster and get things done quicker.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4535"/>
            <a:ext cx="10954583"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The Problem: Wasted Computer Power</a:t>
            </a:r>
            <a:endParaRPr lang="en-US" sz="4450" dirty="0"/>
          </a:p>
        </p:txBody>
      </p:sp>
      <p:sp>
        <p:nvSpPr>
          <p:cNvPr id="3" name="Text 1"/>
          <p:cNvSpPr/>
          <p:nvPr/>
        </p:nvSpPr>
        <p:spPr>
          <a:xfrm>
            <a:off x="793790" y="2297549"/>
            <a:ext cx="7604284"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 Old computers work like this: One computer = One program</a:t>
            </a:r>
            <a:endParaRPr lang="en-US" sz="1750" dirty="0"/>
          </a:p>
        </p:txBody>
      </p:sp>
      <p:sp>
        <p:nvSpPr>
          <p:cNvPr id="4" name="Text 2"/>
          <p:cNvSpPr/>
          <p:nvPr/>
        </p:nvSpPr>
        <p:spPr>
          <a:xfrm>
            <a:off x="793790" y="288726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Problems:</a:t>
            </a:r>
            <a:endParaRPr lang="en-US" sz="2200" dirty="0"/>
          </a:p>
        </p:txBody>
      </p:sp>
      <p:sp>
        <p:nvSpPr>
          <p:cNvPr id="5" name="Text 3"/>
          <p:cNvSpPr/>
          <p:nvPr/>
        </p:nvSpPr>
        <p:spPr>
          <a:xfrm>
            <a:off x="793790" y="33323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1. Wasted Power</a:t>
            </a:r>
            <a:endParaRPr lang="en-US" sz="2200" dirty="0"/>
          </a:p>
        </p:txBody>
      </p:sp>
      <p:sp>
        <p:nvSpPr>
          <p:cNvPr id="6" name="Text 4"/>
          <p:cNvSpPr/>
          <p:nvPr/>
        </p:nvSpPr>
        <p:spPr>
          <a:xfrm>
            <a:off x="793790" y="3913465"/>
            <a:ext cx="7604284"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Each program uses only a small part of the computer. The rest sits empty and unused.</a:t>
            </a:r>
            <a:endParaRPr lang="en-US" sz="1750" dirty="0"/>
          </a:p>
        </p:txBody>
      </p:sp>
      <p:sp>
        <p:nvSpPr>
          <p:cNvPr id="7" name="Text 5"/>
          <p:cNvSpPr/>
          <p:nvPr/>
        </p:nvSpPr>
        <p:spPr>
          <a:xfrm>
            <a:off x="793790" y="486608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2. Too Expensive</a:t>
            </a:r>
            <a:endParaRPr lang="en-US" sz="2200" dirty="0"/>
          </a:p>
        </p:txBody>
      </p:sp>
      <p:sp>
        <p:nvSpPr>
          <p:cNvPr id="8" name="Text 6"/>
          <p:cNvSpPr/>
          <p:nvPr/>
        </p:nvSpPr>
        <p:spPr>
          <a:xfrm>
            <a:off x="793790" y="5447228"/>
            <a:ext cx="7604284"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Companies need to buy many computers, which costs a lot of money.</a:t>
            </a:r>
            <a:endParaRPr lang="en-US" sz="1750" dirty="0"/>
          </a:p>
        </p:txBody>
      </p:sp>
      <p:sp>
        <p:nvSpPr>
          <p:cNvPr id="9" name="Text 7"/>
          <p:cNvSpPr/>
          <p:nvPr/>
        </p:nvSpPr>
        <p:spPr>
          <a:xfrm>
            <a:off x="793790" y="603694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3. Hard to Manage</a:t>
            </a:r>
            <a:endParaRPr lang="en-US" sz="2200" dirty="0"/>
          </a:p>
        </p:txBody>
      </p:sp>
      <p:sp>
        <p:nvSpPr>
          <p:cNvPr id="10" name="Text 8"/>
          <p:cNvSpPr/>
          <p:nvPr/>
        </p:nvSpPr>
        <p:spPr>
          <a:xfrm>
            <a:off x="793790" y="6618089"/>
            <a:ext cx="7604284" cy="362903"/>
          </a:xfrm>
          <a:prstGeom prst="rect">
            <a:avLst/>
          </a:prstGeom>
          <a:noFill/>
          <a:ln/>
        </p:spPr>
        <p:txBody>
          <a:bodyPr wrap="non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Managing many computers is difficult and takes a lot of time.</a:t>
            </a:r>
            <a:endParaRPr lang="en-US" sz="1750" dirty="0"/>
          </a:p>
        </p:txBody>
      </p:sp>
      <p:sp>
        <p:nvSpPr>
          <p:cNvPr id="11" name="Shape 9"/>
          <p:cNvSpPr/>
          <p:nvPr/>
        </p:nvSpPr>
        <p:spPr>
          <a:xfrm>
            <a:off x="8959096" y="2348627"/>
            <a:ext cx="4082891" cy="2268260"/>
          </a:xfrm>
          <a:prstGeom prst="roundRect">
            <a:avLst>
              <a:gd name="adj" fmla="val 4200"/>
            </a:avLst>
          </a:prstGeom>
          <a:solidFill>
            <a:srgbClr val="DFDFE0"/>
          </a:solidFill>
          <a:ln/>
        </p:spPr>
      </p:sp>
      <p:pic>
        <p:nvPicPr>
          <p:cNvPr id="12" name="Image 0" descr="preencoded.png">    </p:cNvPr>
          <p:cNvPicPr>
            <a:picLocks noChangeAspect="1"/>
          </p:cNvPicPr>
          <p:nvPr/>
        </p:nvPicPr>
        <p:blipFill>
          <a:blip r:embed="rId1"/>
          <a:stretch>
            <a:fillRect/>
          </a:stretch>
        </p:blipFill>
        <p:spPr>
          <a:xfrm>
            <a:off x="10886242" y="3243143"/>
            <a:ext cx="228600" cy="228600"/>
          </a:xfrm>
          <a:prstGeom prst="rect">
            <a:avLst/>
          </a:prstGeom>
        </p:spPr>
      </p:pic>
      <p:sp>
        <p:nvSpPr>
          <p:cNvPr id="13" name="Text 10"/>
          <p:cNvSpPr/>
          <p:nvPr/>
        </p:nvSpPr>
        <p:spPr>
          <a:xfrm>
            <a:off x="9957554" y="3595568"/>
            <a:ext cx="2085975"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727478"/>
            <a:ext cx="6847403"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The Solution: Containers</a:t>
            </a:r>
            <a:endParaRPr lang="en-US" sz="4450" dirty="0"/>
          </a:p>
        </p:txBody>
      </p:sp>
      <p:sp>
        <p:nvSpPr>
          <p:cNvPr id="3" name="Text 1"/>
          <p:cNvSpPr/>
          <p:nvPr/>
        </p:nvSpPr>
        <p:spPr>
          <a:xfrm>
            <a:off x="793790" y="2889885"/>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 container is like a small box that holds everything a program needs to run. Many containers can live on one computer, and they don't bother each other. Each container has its own space and thinks it's alone, but they all share the same computer.</a:t>
            </a:r>
            <a:endParaRPr lang="en-US" sz="1750" dirty="0"/>
          </a:p>
        </p:txBody>
      </p:sp>
      <p:sp>
        <p:nvSpPr>
          <p:cNvPr id="4" name="Shape 2"/>
          <p:cNvSpPr/>
          <p:nvPr/>
        </p:nvSpPr>
        <p:spPr>
          <a:xfrm>
            <a:off x="793790" y="4233743"/>
            <a:ext cx="4082891" cy="2268260"/>
          </a:xfrm>
          <a:prstGeom prst="roundRect">
            <a:avLst>
              <a:gd name="adj" fmla="val 4200"/>
            </a:avLst>
          </a:prstGeom>
          <a:solidFill>
            <a:srgbClr val="DFDFE0"/>
          </a:solidFill>
          <a:ln/>
        </p:spPr>
      </p:sp>
      <p:pic>
        <p:nvPicPr>
          <p:cNvPr id="5" name="Image 0" descr="preencoded.png">    </p:cNvPr>
          <p:cNvPicPr>
            <a:picLocks noChangeAspect="1"/>
          </p:cNvPicPr>
          <p:nvPr/>
        </p:nvPicPr>
        <p:blipFill>
          <a:blip r:embed="rId1"/>
          <a:stretch>
            <a:fillRect/>
          </a:stretch>
        </p:blipFill>
        <p:spPr>
          <a:xfrm>
            <a:off x="2720935" y="5128260"/>
            <a:ext cx="228600" cy="228600"/>
          </a:xfrm>
          <a:prstGeom prst="rect">
            <a:avLst/>
          </a:prstGeom>
        </p:spPr>
      </p:pic>
      <p:sp>
        <p:nvSpPr>
          <p:cNvPr id="6" name="Text 3"/>
          <p:cNvSpPr/>
          <p:nvPr/>
        </p:nvSpPr>
        <p:spPr>
          <a:xfrm>
            <a:off x="1792248" y="5480685"/>
            <a:ext cx="2085975"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88419"/>
            <a:ext cx="4597837" cy="531614"/>
          </a:xfrm>
          <a:prstGeom prst="rect">
            <a:avLst/>
          </a:prstGeom>
          <a:noFill/>
          <a:ln/>
        </p:spPr>
        <p:txBody>
          <a:bodyPr wrap="none" lIns="0" tIns="0" rIns="0" bIns="0" rtlCol="0" anchor="t"/>
          <a:lstStyle/>
          <a:p>
            <a:pPr algn="l" indent="0" marL="0">
              <a:lnSpc>
                <a:spcPts val="4150"/>
              </a:lnSpc>
              <a:buNone/>
            </a:pPr>
            <a:r>
              <a:rPr lang="en-US" sz="3300" dirty="0">
                <a:solidFill>
                  <a:srgbClr val="1B1B27"/>
                </a:solidFill>
                <a:latin typeface="Alexandria" pitchFamily="34" charset="0"/>
                <a:ea typeface="Alexandria" pitchFamily="34" charset="-122"/>
                <a:cs typeface="Alexandria" pitchFamily="34" charset="-120"/>
              </a:rPr>
              <a:t>How Containers Work</a:t>
            </a:r>
            <a:endParaRPr lang="en-US" sz="3300" dirty="0"/>
          </a:p>
        </p:txBody>
      </p:sp>
      <p:sp>
        <p:nvSpPr>
          <p:cNvPr id="3" name="Shape 1"/>
          <p:cNvSpPr/>
          <p:nvPr/>
        </p:nvSpPr>
        <p:spPr>
          <a:xfrm>
            <a:off x="793790" y="1554837"/>
            <a:ext cx="3062168" cy="1701165"/>
          </a:xfrm>
          <a:prstGeom prst="roundRect">
            <a:avLst>
              <a:gd name="adj" fmla="val 4200"/>
            </a:avLst>
          </a:prstGeom>
          <a:solidFill>
            <a:srgbClr val="DFDFE0"/>
          </a:solidFill>
          <a:ln/>
        </p:spPr>
      </p:sp>
      <p:pic>
        <p:nvPicPr>
          <p:cNvPr id="4" name="Image 0" descr="preencoded.png">    </p:cNvPr>
          <p:cNvPicPr>
            <a:picLocks noChangeAspect="1"/>
          </p:cNvPicPr>
          <p:nvPr/>
        </p:nvPicPr>
        <p:blipFill>
          <a:blip r:embed="rId1"/>
          <a:stretch>
            <a:fillRect/>
          </a:stretch>
        </p:blipFill>
        <p:spPr>
          <a:xfrm>
            <a:off x="2210514" y="2176463"/>
            <a:ext cx="228600" cy="228600"/>
          </a:xfrm>
          <a:prstGeom prst="rect">
            <a:avLst/>
          </a:prstGeom>
        </p:spPr>
      </p:pic>
      <p:sp>
        <p:nvSpPr>
          <p:cNvPr id="5" name="Text 2"/>
          <p:cNvSpPr/>
          <p:nvPr/>
        </p:nvSpPr>
        <p:spPr>
          <a:xfrm>
            <a:off x="1281827" y="2506028"/>
            <a:ext cx="2085975" cy="149304"/>
          </a:xfrm>
          <a:prstGeom prst="rect">
            <a:avLst/>
          </a:prstGeom>
          <a:noFill/>
          <a:ln/>
        </p:spPr>
        <p:txBody>
          <a:bodyPr wrap="none" lIns="0" tIns="0" rIns="0" bIns="0" rtlCol="0" anchor="t"/>
          <a:lstStyle/>
          <a:p>
            <a:pPr algn="ctr" indent="0" marL="0">
              <a:lnSpc>
                <a:spcPts val="115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
        <p:nvSpPr>
          <p:cNvPr id="6" name="Shape 3"/>
          <p:cNvSpPr/>
          <p:nvPr/>
        </p:nvSpPr>
        <p:spPr>
          <a:xfrm>
            <a:off x="7530346" y="1554837"/>
            <a:ext cx="6313884" cy="1862614"/>
          </a:xfrm>
          <a:prstGeom prst="roundRect">
            <a:avLst>
              <a:gd name="adj" fmla="val 3836"/>
            </a:avLst>
          </a:prstGeom>
          <a:solidFill>
            <a:srgbClr val="D2DDF9"/>
          </a:solidFill>
          <a:ln w="7620">
            <a:solidFill>
              <a:srgbClr val="B8C3DF"/>
            </a:solidFill>
            <a:prstDash val="solid"/>
          </a:ln>
        </p:spPr>
      </p:sp>
      <p:sp>
        <p:nvSpPr>
          <p:cNvPr id="7" name="Shape 4"/>
          <p:cNvSpPr/>
          <p:nvPr/>
        </p:nvSpPr>
        <p:spPr>
          <a:xfrm>
            <a:off x="7707987" y="1732478"/>
            <a:ext cx="510302" cy="510302"/>
          </a:xfrm>
          <a:prstGeom prst="roundRect">
            <a:avLst>
              <a:gd name="adj" fmla="val 17917009"/>
            </a:avLst>
          </a:prstGeom>
          <a:solidFill>
            <a:srgbClr val="1B54DA"/>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48362" y="1872734"/>
            <a:ext cx="229553" cy="229552"/>
          </a:xfrm>
          <a:prstGeom prst="rect">
            <a:avLst/>
          </a:prstGeom>
        </p:spPr>
      </p:pic>
      <p:sp>
        <p:nvSpPr>
          <p:cNvPr id="9" name="Text 5"/>
          <p:cNvSpPr/>
          <p:nvPr/>
        </p:nvSpPr>
        <p:spPr>
          <a:xfrm>
            <a:off x="7707987" y="2370296"/>
            <a:ext cx="2397800" cy="265747"/>
          </a:xfrm>
          <a:prstGeom prst="rect">
            <a:avLst/>
          </a:prstGeom>
          <a:noFill/>
          <a:ln/>
        </p:spPr>
        <p:txBody>
          <a:bodyPr wrap="none" lIns="0" tIns="0" rIns="0" bIns="0" rtlCol="0" anchor="t"/>
          <a:lstStyle/>
          <a:p>
            <a:pPr algn="l" indent="0" marL="0">
              <a:lnSpc>
                <a:spcPts val="2050"/>
              </a:lnSpc>
              <a:buNone/>
            </a:pPr>
            <a:r>
              <a:rPr lang="en-US" sz="1650" dirty="0">
                <a:solidFill>
                  <a:srgbClr val="404155"/>
                </a:solidFill>
                <a:latin typeface="Alexandria" pitchFamily="34" charset="0"/>
                <a:ea typeface="Alexandria" pitchFamily="34" charset="-122"/>
                <a:cs typeface="Alexandria" pitchFamily="34" charset="-120"/>
              </a:rPr>
              <a:t>One Operating System</a:t>
            </a:r>
            <a:endParaRPr lang="en-US" sz="1650" dirty="0"/>
          </a:p>
        </p:txBody>
      </p:sp>
      <p:sp>
        <p:nvSpPr>
          <p:cNvPr id="10" name="Text 6"/>
          <p:cNvSpPr/>
          <p:nvPr/>
        </p:nvSpPr>
        <p:spPr>
          <a:xfrm>
            <a:off x="7707987" y="2763560"/>
            <a:ext cx="5958602" cy="476250"/>
          </a:xfrm>
          <a:prstGeom prst="rect">
            <a:avLst/>
          </a:prstGeom>
          <a:noFill/>
          <a:ln/>
        </p:spPr>
        <p:txBody>
          <a:bodyPr wrap="square" lIns="0" tIns="0" rIns="0" bIns="0" rtlCol="0" anchor="t"/>
          <a:lstStyle/>
          <a:p>
            <a:pPr algn="l" indent="0" marL="0">
              <a:lnSpc>
                <a:spcPts val="1850"/>
              </a:lnSpc>
              <a:buNone/>
            </a:pPr>
            <a:r>
              <a:rPr lang="en-US" sz="1300" dirty="0">
                <a:solidFill>
                  <a:srgbClr val="404155"/>
                </a:solidFill>
                <a:latin typeface="Nobile" pitchFamily="34" charset="0"/>
                <a:ea typeface="Nobile" pitchFamily="34" charset="-122"/>
                <a:cs typeface="Nobile" pitchFamily="34" charset="-120"/>
              </a:rPr>
              <a:t>All containers share one operating system. This is the heart of the computer.</a:t>
            </a:r>
            <a:endParaRPr lang="en-US" sz="1300" dirty="0"/>
          </a:p>
        </p:txBody>
      </p:sp>
      <p:sp>
        <p:nvSpPr>
          <p:cNvPr id="11" name="Shape 7"/>
          <p:cNvSpPr/>
          <p:nvPr/>
        </p:nvSpPr>
        <p:spPr>
          <a:xfrm>
            <a:off x="7530346" y="3544967"/>
            <a:ext cx="6313884" cy="1862614"/>
          </a:xfrm>
          <a:prstGeom prst="roundRect">
            <a:avLst>
              <a:gd name="adj" fmla="val 3836"/>
            </a:avLst>
          </a:prstGeom>
          <a:solidFill>
            <a:srgbClr val="D2DDF9"/>
          </a:solidFill>
          <a:ln w="7620">
            <a:solidFill>
              <a:srgbClr val="B8C3DF"/>
            </a:solidFill>
            <a:prstDash val="solid"/>
          </a:ln>
        </p:spPr>
      </p:sp>
      <p:sp>
        <p:nvSpPr>
          <p:cNvPr id="12" name="Shape 8"/>
          <p:cNvSpPr/>
          <p:nvPr/>
        </p:nvSpPr>
        <p:spPr>
          <a:xfrm>
            <a:off x="7707987" y="3722608"/>
            <a:ext cx="510302" cy="510302"/>
          </a:xfrm>
          <a:prstGeom prst="roundRect">
            <a:avLst>
              <a:gd name="adj" fmla="val 17917009"/>
            </a:avLst>
          </a:prstGeom>
          <a:solidFill>
            <a:srgbClr val="1B54DA"/>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8362" y="3862864"/>
            <a:ext cx="229553" cy="229552"/>
          </a:xfrm>
          <a:prstGeom prst="rect">
            <a:avLst/>
          </a:prstGeom>
        </p:spPr>
      </p:pic>
      <p:sp>
        <p:nvSpPr>
          <p:cNvPr id="14" name="Text 9"/>
          <p:cNvSpPr/>
          <p:nvPr/>
        </p:nvSpPr>
        <p:spPr>
          <a:xfrm>
            <a:off x="7707987" y="4360426"/>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404155"/>
                </a:solidFill>
                <a:latin typeface="Alexandria" pitchFamily="34" charset="0"/>
                <a:ea typeface="Alexandria" pitchFamily="34" charset="-122"/>
                <a:cs typeface="Alexandria" pitchFamily="34" charset="-120"/>
              </a:rPr>
              <a:t>Many Containers</a:t>
            </a:r>
            <a:endParaRPr lang="en-US" sz="1650" dirty="0"/>
          </a:p>
        </p:txBody>
      </p:sp>
      <p:sp>
        <p:nvSpPr>
          <p:cNvPr id="15" name="Text 10"/>
          <p:cNvSpPr/>
          <p:nvPr/>
        </p:nvSpPr>
        <p:spPr>
          <a:xfrm>
            <a:off x="7707987" y="4753689"/>
            <a:ext cx="5958602" cy="476250"/>
          </a:xfrm>
          <a:prstGeom prst="rect">
            <a:avLst/>
          </a:prstGeom>
          <a:noFill/>
          <a:ln/>
        </p:spPr>
        <p:txBody>
          <a:bodyPr wrap="square" lIns="0" tIns="0" rIns="0" bIns="0" rtlCol="0" anchor="t"/>
          <a:lstStyle/>
          <a:p>
            <a:pPr algn="l" indent="0" marL="0">
              <a:lnSpc>
                <a:spcPts val="1850"/>
              </a:lnSpc>
              <a:buNone/>
            </a:pPr>
            <a:r>
              <a:rPr lang="en-US" sz="1300" dirty="0">
                <a:solidFill>
                  <a:srgbClr val="404155"/>
                </a:solidFill>
                <a:latin typeface="Nobile" pitchFamily="34" charset="0"/>
                <a:ea typeface="Nobile" pitchFamily="34" charset="-122"/>
                <a:cs typeface="Nobile" pitchFamily="34" charset="-120"/>
              </a:rPr>
              <a:t>Each container is separate and isolated. They don't see each other or interfere with each other.</a:t>
            </a:r>
            <a:endParaRPr lang="en-US" sz="1300" dirty="0"/>
          </a:p>
        </p:txBody>
      </p:sp>
      <p:sp>
        <p:nvSpPr>
          <p:cNvPr id="16" name="Shape 11"/>
          <p:cNvSpPr/>
          <p:nvPr/>
        </p:nvSpPr>
        <p:spPr>
          <a:xfrm>
            <a:off x="7530346" y="5535097"/>
            <a:ext cx="6313884" cy="1862614"/>
          </a:xfrm>
          <a:prstGeom prst="roundRect">
            <a:avLst>
              <a:gd name="adj" fmla="val 3836"/>
            </a:avLst>
          </a:prstGeom>
          <a:solidFill>
            <a:srgbClr val="D2DDF9"/>
          </a:solidFill>
          <a:ln w="7620">
            <a:solidFill>
              <a:srgbClr val="B8C3DF"/>
            </a:solidFill>
            <a:prstDash val="solid"/>
          </a:ln>
        </p:spPr>
      </p:sp>
      <p:sp>
        <p:nvSpPr>
          <p:cNvPr id="17" name="Shape 12"/>
          <p:cNvSpPr/>
          <p:nvPr/>
        </p:nvSpPr>
        <p:spPr>
          <a:xfrm>
            <a:off x="7707987" y="5712738"/>
            <a:ext cx="510302" cy="510302"/>
          </a:xfrm>
          <a:prstGeom prst="roundRect">
            <a:avLst>
              <a:gd name="adj" fmla="val 17917009"/>
            </a:avLst>
          </a:prstGeom>
          <a:solidFill>
            <a:srgbClr val="1B54DA"/>
          </a:solidFill>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48362" y="5852993"/>
            <a:ext cx="229553" cy="229552"/>
          </a:xfrm>
          <a:prstGeom prst="rect">
            <a:avLst/>
          </a:prstGeom>
        </p:spPr>
      </p:pic>
      <p:sp>
        <p:nvSpPr>
          <p:cNvPr id="19" name="Text 13"/>
          <p:cNvSpPr/>
          <p:nvPr/>
        </p:nvSpPr>
        <p:spPr>
          <a:xfrm>
            <a:off x="7707987" y="6350556"/>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404155"/>
                </a:solidFill>
                <a:latin typeface="Alexandria" pitchFamily="34" charset="0"/>
                <a:ea typeface="Alexandria" pitchFamily="34" charset="-122"/>
                <a:cs typeface="Alexandria" pitchFamily="34" charset="-120"/>
              </a:rPr>
              <a:t>Shared Resources</a:t>
            </a:r>
            <a:endParaRPr lang="en-US" sz="1650" dirty="0"/>
          </a:p>
        </p:txBody>
      </p:sp>
      <p:sp>
        <p:nvSpPr>
          <p:cNvPr id="20" name="Text 14"/>
          <p:cNvSpPr/>
          <p:nvPr/>
        </p:nvSpPr>
        <p:spPr>
          <a:xfrm>
            <a:off x="7707987" y="6743819"/>
            <a:ext cx="5958602" cy="476250"/>
          </a:xfrm>
          <a:prstGeom prst="rect">
            <a:avLst/>
          </a:prstGeom>
          <a:noFill/>
          <a:ln/>
        </p:spPr>
        <p:txBody>
          <a:bodyPr wrap="square" lIns="0" tIns="0" rIns="0" bIns="0" rtlCol="0" anchor="t"/>
          <a:lstStyle/>
          <a:p>
            <a:pPr algn="l" indent="0" marL="0">
              <a:lnSpc>
                <a:spcPts val="1850"/>
              </a:lnSpc>
              <a:buNone/>
            </a:pPr>
            <a:r>
              <a:rPr lang="en-US" sz="1300" dirty="0">
                <a:solidFill>
                  <a:srgbClr val="404155"/>
                </a:solidFill>
                <a:latin typeface="Nobile" pitchFamily="34" charset="0"/>
                <a:ea typeface="Nobile" pitchFamily="34" charset="-122"/>
                <a:cs typeface="Nobile" pitchFamily="34" charset="-120"/>
              </a:rPr>
              <a:t>All containers share the computer's power (CPU, memory, storage) but stay separate and safe.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82635"/>
            <a:ext cx="6055876"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Real-World Examples</a:t>
            </a:r>
            <a:endParaRPr lang="en-US" sz="4450" dirty="0"/>
          </a:p>
        </p:txBody>
      </p:sp>
      <p:sp>
        <p:nvSpPr>
          <p:cNvPr id="3" name="Shape 1"/>
          <p:cNvSpPr/>
          <p:nvPr/>
        </p:nvSpPr>
        <p:spPr>
          <a:xfrm>
            <a:off x="793790" y="2386727"/>
            <a:ext cx="3933349" cy="2268260"/>
          </a:xfrm>
          <a:prstGeom prst="roundRect">
            <a:avLst>
              <a:gd name="adj" fmla="val 4200"/>
            </a:avLst>
          </a:prstGeom>
          <a:solidFill>
            <a:srgbClr val="DFDFE0"/>
          </a:solidFill>
          <a:ln/>
        </p:spPr>
      </p:sp>
      <p:pic>
        <p:nvPicPr>
          <p:cNvPr id="4" name="Image 0" descr="preencoded.png">    </p:cNvPr>
          <p:cNvPicPr>
            <a:picLocks noChangeAspect="1"/>
          </p:cNvPicPr>
          <p:nvPr/>
        </p:nvPicPr>
        <p:blipFill>
          <a:blip r:embed="rId1"/>
          <a:stretch>
            <a:fillRect/>
          </a:stretch>
        </p:blipFill>
        <p:spPr>
          <a:xfrm>
            <a:off x="2646164" y="3281243"/>
            <a:ext cx="228600" cy="228600"/>
          </a:xfrm>
          <a:prstGeom prst="rect">
            <a:avLst/>
          </a:prstGeom>
        </p:spPr>
      </p:pic>
      <p:sp>
        <p:nvSpPr>
          <p:cNvPr id="5" name="Text 2"/>
          <p:cNvSpPr/>
          <p:nvPr/>
        </p:nvSpPr>
        <p:spPr>
          <a:xfrm>
            <a:off x="1717477" y="3633668"/>
            <a:ext cx="2085975"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
        <p:nvSpPr>
          <p:cNvPr id="6" name="Text 3"/>
          <p:cNvSpPr/>
          <p:nvPr/>
        </p:nvSpPr>
        <p:spPr>
          <a:xfrm>
            <a:off x="793790" y="491013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Websites</a:t>
            </a:r>
            <a:endParaRPr lang="en-US" sz="2200" dirty="0"/>
          </a:p>
        </p:txBody>
      </p:sp>
      <p:sp>
        <p:nvSpPr>
          <p:cNvPr id="7" name="Text 4"/>
          <p:cNvSpPr/>
          <p:nvPr/>
        </p:nvSpPr>
        <p:spPr>
          <a:xfrm>
            <a:off x="793790" y="5491282"/>
            <a:ext cx="3933349"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Big websites like Netflix and Facebook use containers to run thousands of copies of their programs at the same time.</a:t>
            </a:r>
            <a:endParaRPr lang="en-US" sz="1750" dirty="0"/>
          </a:p>
        </p:txBody>
      </p:sp>
      <p:sp>
        <p:nvSpPr>
          <p:cNvPr id="8" name="Shape 5"/>
          <p:cNvSpPr/>
          <p:nvPr/>
        </p:nvSpPr>
        <p:spPr>
          <a:xfrm>
            <a:off x="5288161" y="2386727"/>
            <a:ext cx="3933349" cy="2268260"/>
          </a:xfrm>
          <a:prstGeom prst="roundRect">
            <a:avLst>
              <a:gd name="adj" fmla="val 4200"/>
            </a:avLst>
          </a:prstGeom>
          <a:solidFill>
            <a:srgbClr val="DFDFE0"/>
          </a:solidFill>
          <a:ln/>
        </p:spPr>
      </p:sp>
      <p:pic>
        <p:nvPicPr>
          <p:cNvPr id="9" name="Image 1" descr="preencoded.png">    </p:cNvPr>
          <p:cNvPicPr>
            <a:picLocks noChangeAspect="1"/>
          </p:cNvPicPr>
          <p:nvPr/>
        </p:nvPicPr>
        <p:blipFill>
          <a:blip r:embed="rId2"/>
          <a:stretch>
            <a:fillRect/>
          </a:stretch>
        </p:blipFill>
        <p:spPr>
          <a:xfrm>
            <a:off x="7140535" y="3281243"/>
            <a:ext cx="228600" cy="228600"/>
          </a:xfrm>
          <a:prstGeom prst="rect">
            <a:avLst/>
          </a:prstGeom>
        </p:spPr>
      </p:pic>
      <p:sp>
        <p:nvSpPr>
          <p:cNvPr id="10" name="Text 6"/>
          <p:cNvSpPr/>
          <p:nvPr/>
        </p:nvSpPr>
        <p:spPr>
          <a:xfrm>
            <a:off x="6211848" y="3633668"/>
            <a:ext cx="2085975"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
        <p:nvSpPr>
          <p:cNvPr id="11" name="Text 7"/>
          <p:cNvSpPr/>
          <p:nvPr/>
        </p:nvSpPr>
        <p:spPr>
          <a:xfrm>
            <a:off x="5288161" y="491013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Mobile Apps</a:t>
            </a:r>
            <a:endParaRPr lang="en-US" sz="2200" dirty="0"/>
          </a:p>
        </p:txBody>
      </p:sp>
      <p:sp>
        <p:nvSpPr>
          <p:cNvPr id="12" name="Text 8"/>
          <p:cNvSpPr/>
          <p:nvPr/>
        </p:nvSpPr>
        <p:spPr>
          <a:xfrm>
            <a:off x="5288161" y="5491282"/>
            <a:ext cx="3933349"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Apps on your phone use containers to run safely without crashing other apps.</a:t>
            </a:r>
            <a:endParaRPr lang="en-US" sz="1750" dirty="0"/>
          </a:p>
        </p:txBody>
      </p:sp>
      <p:sp>
        <p:nvSpPr>
          <p:cNvPr id="13" name="Shape 9"/>
          <p:cNvSpPr/>
          <p:nvPr/>
        </p:nvSpPr>
        <p:spPr>
          <a:xfrm>
            <a:off x="9782532" y="2386727"/>
            <a:ext cx="4069199" cy="2268260"/>
          </a:xfrm>
          <a:prstGeom prst="roundRect">
            <a:avLst>
              <a:gd name="adj" fmla="val 4200"/>
            </a:avLst>
          </a:prstGeom>
          <a:solidFill>
            <a:srgbClr val="DFDFE0"/>
          </a:solidFill>
          <a:ln/>
        </p:spPr>
      </p:sp>
      <p:pic>
        <p:nvPicPr>
          <p:cNvPr id="14" name="Image 2" descr="preencoded.png">    </p:cNvPr>
          <p:cNvPicPr>
            <a:picLocks noChangeAspect="1"/>
          </p:cNvPicPr>
          <p:nvPr/>
        </p:nvPicPr>
        <p:blipFill>
          <a:blip r:embed="rId3"/>
          <a:stretch>
            <a:fillRect/>
          </a:stretch>
        </p:blipFill>
        <p:spPr>
          <a:xfrm>
            <a:off x="11702772" y="3281243"/>
            <a:ext cx="228600" cy="228600"/>
          </a:xfrm>
          <a:prstGeom prst="rect">
            <a:avLst/>
          </a:prstGeom>
        </p:spPr>
      </p:pic>
      <p:sp>
        <p:nvSpPr>
          <p:cNvPr id="15" name="Text 10"/>
          <p:cNvSpPr/>
          <p:nvPr/>
        </p:nvSpPr>
        <p:spPr>
          <a:xfrm>
            <a:off x="10774085" y="3633668"/>
            <a:ext cx="2085975"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
        <p:nvSpPr>
          <p:cNvPr id="16" name="Text 11"/>
          <p:cNvSpPr/>
          <p:nvPr/>
        </p:nvSpPr>
        <p:spPr>
          <a:xfrm>
            <a:off x="9782532" y="491013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Data Centers</a:t>
            </a:r>
            <a:endParaRPr lang="en-US" sz="2200" dirty="0"/>
          </a:p>
        </p:txBody>
      </p:sp>
      <p:sp>
        <p:nvSpPr>
          <p:cNvPr id="17" name="Text 12"/>
          <p:cNvSpPr/>
          <p:nvPr/>
        </p:nvSpPr>
        <p:spPr>
          <a:xfrm>
            <a:off x="9782532" y="5491282"/>
            <a:ext cx="4069199" cy="1088708"/>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Companies use containers to run many programs on fewer computers, saving money and space.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1407" y="685205"/>
            <a:ext cx="5796558" cy="662821"/>
          </a:xfrm>
          <a:prstGeom prst="rect">
            <a:avLst/>
          </a:prstGeom>
          <a:noFill/>
          <a:ln/>
        </p:spPr>
        <p:txBody>
          <a:bodyPr wrap="none" lIns="0" tIns="0" rIns="0" bIns="0" rtlCol="0" anchor="t"/>
          <a:lstStyle/>
          <a:p>
            <a:pPr algn="l" indent="0" marL="0">
              <a:lnSpc>
                <a:spcPts val="5200"/>
              </a:lnSpc>
              <a:buNone/>
            </a:pPr>
            <a:r>
              <a:rPr lang="en-US" sz="4150" dirty="0">
                <a:solidFill>
                  <a:srgbClr val="1B1B27"/>
                </a:solidFill>
                <a:latin typeface="Alexandria" pitchFamily="34" charset="0"/>
                <a:ea typeface="Alexandria" pitchFamily="34" charset="-122"/>
                <a:cs typeface="Alexandria" pitchFamily="34" charset="-120"/>
              </a:rPr>
              <a:t>Benefits of Containers</a:t>
            </a:r>
            <a:endParaRPr lang="en-US" sz="4150" dirty="0"/>
          </a:p>
        </p:txBody>
      </p:sp>
      <p:sp>
        <p:nvSpPr>
          <p:cNvPr id="3" name="Text 1"/>
          <p:cNvSpPr/>
          <p:nvPr/>
        </p:nvSpPr>
        <p:spPr>
          <a:xfrm>
            <a:off x="781407" y="1824038"/>
            <a:ext cx="6275070" cy="985123"/>
          </a:xfrm>
          <a:prstGeom prst="rect">
            <a:avLst/>
          </a:prstGeom>
          <a:noFill/>
          <a:ln/>
        </p:spPr>
        <p:txBody>
          <a:bodyPr wrap="square" lIns="0" tIns="0" rIns="0" bIns="0" rtlCol="0" anchor="t"/>
          <a:lstStyle/>
          <a:p>
            <a:pPr algn="l" indent="0" marL="0">
              <a:lnSpc>
                <a:spcPts val="2550"/>
              </a:lnSpc>
              <a:buNone/>
            </a:pPr>
            <a:r>
              <a:rPr lang="en-US" sz="1650" dirty="0">
                <a:solidFill>
                  <a:srgbClr val="404155"/>
                </a:solidFill>
                <a:latin typeface="Nobile" pitchFamily="34" charset="0"/>
                <a:ea typeface="Nobile" pitchFamily="34" charset="-122"/>
                <a:cs typeface="Nobile" pitchFamily="34" charset="-120"/>
              </a:rPr>
              <a:t>Containers make computers work better and smarter. They help companies save money, work faster, and use computers more efficiently.</a:t>
            </a:r>
            <a:endParaRPr lang="en-US" sz="1650" dirty="0"/>
          </a:p>
        </p:txBody>
      </p:sp>
      <p:sp>
        <p:nvSpPr>
          <p:cNvPr id="4" name="Shape 2"/>
          <p:cNvSpPr/>
          <p:nvPr/>
        </p:nvSpPr>
        <p:spPr>
          <a:xfrm>
            <a:off x="781407" y="3032284"/>
            <a:ext cx="6275070" cy="1297424"/>
          </a:xfrm>
          <a:prstGeom prst="roundRect">
            <a:avLst>
              <a:gd name="adj" fmla="val 6867"/>
            </a:avLst>
          </a:prstGeom>
          <a:solidFill>
            <a:srgbClr val="D2DDF9"/>
          </a:solidFill>
          <a:ln w="7620">
            <a:solidFill>
              <a:srgbClr val="B8C3DF"/>
            </a:solidFill>
            <a:prstDash val="solid"/>
          </a:ln>
        </p:spPr>
      </p:sp>
      <p:sp>
        <p:nvSpPr>
          <p:cNvPr id="5" name="Text 3"/>
          <p:cNvSpPr/>
          <p:nvPr/>
        </p:nvSpPr>
        <p:spPr>
          <a:xfrm>
            <a:off x="1001078" y="3251954"/>
            <a:ext cx="2651403" cy="331351"/>
          </a:xfrm>
          <a:prstGeom prst="rect">
            <a:avLst/>
          </a:prstGeom>
          <a:noFill/>
          <a:ln/>
        </p:spPr>
        <p:txBody>
          <a:bodyPr wrap="none" lIns="0" tIns="0" rIns="0" bIns="0" rtlCol="0" anchor="t"/>
          <a:lstStyle/>
          <a:p>
            <a:pPr algn="l" indent="0" marL="0">
              <a:lnSpc>
                <a:spcPts val="2600"/>
              </a:lnSpc>
              <a:buNone/>
            </a:pPr>
            <a:r>
              <a:rPr lang="en-US" sz="2050" dirty="0">
                <a:solidFill>
                  <a:srgbClr val="404155"/>
                </a:solidFill>
                <a:latin typeface="Alexandria" pitchFamily="34" charset="0"/>
                <a:ea typeface="Alexandria" pitchFamily="34" charset="-122"/>
                <a:cs typeface="Alexandria" pitchFamily="34" charset="-120"/>
              </a:rPr>
              <a:t>Fast Start</a:t>
            </a:r>
            <a:endParaRPr lang="en-US" sz="2050" dirty="0"/>
          </a:p>
        </p:txBody>
      </p:sp>
      <p:sp>
        <p:nvSpPr>
          <p:cNvPr id="6" name="Text 4"/>
          <p:cNvSpPr/>
          <p:nvPr/>
        </p:nvSpPr>
        <p:spPr>
          <a:xfrm>
            <a:off x="1001078" y="3781663"/>
            <a:ext cx="5835729" cy="328374"/>
          </a:xfrm>
          <a:prstGeom prst="rect">
            <a:avLst/>
          </a:prstGeom>
          <a:noFill/>
          <a:ln/>
        </p:spPr>
        <p:txBody>
          <a:bodyPr wrap="none" lIns="0" tIns="0" rIns="0" bIns="0" rtlCol="0" anchor="t"/>
          <a:lstStyle/>
          <a:p>
            <a:pPr algn="l" indent="0" marL="0">
              <a:lnSpc>
                <a:spcPts val="2550"/>
              </a:lnSpc>
              <a:buNone/>
            </a:pPr>
            <a:r>
              <a:rPr lang="en-US" sz="1650" dirty="0">
                <a:solidFill>
                  <a:srgbClr val="404155"/>
                </a:solidFill>
                <a:latin typeface="Nobile" pitchFamily="34" charset="0"/>
                <a:ea typeface="Nobile" pitchFamily="34" charset="-122"/>
                <a:cs typeface="Nobile" pitchFamily="34" charset="-120"/>
              </a:rPr>
              <a:t>Programs start in seconds, not hours</a:t>
            </a:r>
            <a:endParaRPr lang="en-US" sz="1650" dirty="0"/>
          </a:p>
        </p:txBody>
      </p:sp>
      <p:sp>
        <p:nvSpPr>
          <p:cNvPr id="7" name="Shape 5"/>
          <p:cNvSpPr/>
          <p:nvPr/>
        </p:nvSpPr>
        <p:spPr>
          <a:xfrm>
            <a:off x="781407" y="4528066"/>
            <a:ext cx="6275070" cy="1297424"/>
          </a:xfrm>
          <a:prstGeom prst="roundRect">
            <a:avLst>
              <a:gd name="adj" fmla="val 6867"/>
            </a:avLst>
          </a:prstGeom>
          <a:solidFill>
            <a:srgbClr val="D2DDF9"/>
          </a:solidFill>
          <a:ln w="7620">
            <a:solidFill>
              <a:srgbClr val="B8C3DF"/>
            </a:solidFill>
            <a:prstDash val="solid"/>
          </a:ln>
        </p:spPr>
      </p:sp>
      <p:sp>
        <p:nvSpPr>
          <p:cNvPr id="8" name="Text 6"/>
          <p:cNvSpPr/>
          <p:nvPr/>
        </p:nvSpPr>
        <p:spPr>
          <a:xfrm>
            <a:off x="1001078" y="4747736"/>
            <a:ext cx="2651403" cy="331351"/>
          </a:xfrm>
          <a:prstGeom prst="rect">
            <a:avLst/>
          </a:prstGeom>
          <a:noFill/>
          <a:ln/>
        </p:spPr>
        <p:txBody>
          <a:bodyPr wrap="none" lIns="0" tIns="0" rIns="0" bIns="0" rtlCol="0" anchor="t"/>
          <a:lstStyle/>
          <a:p>
            <a:pPr algn="l" indent="0" marL="0">
              <a:lnSpc>
                <a:spcPts val="2600"/>
              </a:lnSpc>
              <a:buNone/>
            </a:pPr>
            <a:r>
              <a:rPr lang="en-US" sz="2050" dirty="0">
                <a:solidFill>
                  <a:srgbClr val="404155"/>
                </a:solidFill>
                <a:latin typeface="Alexandria" pitchFamily="34" charset="0"/>
                <a:ea typeface="Alexandria" pitchFamily="34" charset="-122"/>
                <a:cs typeface="Alexandria" pitchFamily="34" charset="-120"/>
              </a:rPr>
              <a:t>Save Money</a:t>
            </a:r>
            <a:endParaRPr lang="en-US" sz="2050" dirty="0"/>
          </a:p>
        </p:txBody>
      </p:sp>
      <p:sp>
        <p:nvSpPr>
          <p:cNvPr id="9" name="Text 7"/>
          <p:cNvSpPr/>
          <p:nvPr/>
        </p:nvSpPr>
        <p:spPr>
          <a:xfrm>
            <a:off x="1001078" y="5277445"/>
            <a:ext cx="5835729" cy="328374"/>
          </a:xfrm>
          <a:prstGeom prst="rect">
            <a:avLst/>
          </a:prstGeom>
          <a:noFill/>
          <a:ln/>
        </p:spPr>
        <p:txBody>
          <a:bodyPr wrap="none" lIns="0" tIns="0" rIns="0" bIns="0" rtlCol="0" anchor="t"/>
          <a:lstStyle/>
          <a:p>
            <a:pPr algn="l" indent="0" marL="0">
              <a:lnSpc>
                <a:spcPts val="2550"/>
              </a:lnSpc>
              <a:buNone/>
            </a:pPr>
            <a:r>
              <a:rPr lang="en-US" sz="1650" dirty="0">
                <a:solidFill>
                  <a:srgbClr val="404155"/>
                </a:solidFill>
                <a:latin typeface="Nobile" pitchFamily="34" charset="0"/>
                <a:ea typeface="Nobile" pitchFamily="34" charset="-122"/>
                <a:cs typeface="Nobile" pitchFamily="34" charset="-120"/>
              </a:rPr>
              <a:t>Use fewer computers to do the same work</a:t>
            </a:r>
            <a:endParaRPr lang="en-US" sz="1650" dirty="0"/>
          </a:p>
        </p:txBody>
      </p:sp>
      <p:sp>
        <p:nvSpPr>
          <p:cNvPr id="10" name="Shape 8"/>
          <p:cNvSpPr/>
          <p:nvPr/>
        </p:nvSpPr>
        <p:spPr>
          <a:xfrm>
            <a:off x="781407" y="6023848"/>
            <a:ext cx="6275070" cy="1297424"/>
          </a:xfrm>
          <a:prstGeom prst="roundRect">
            <a:avLst>
              <a:gd name="adj" fmla="val 6867"/>
            </a:avLst>
          </a:prstGeom>
          <a:solidFill>
            <a:srgbClr val="D2DDF9"/>
          </a:solidFill>
          <a:ln w="7620">
            <a:solidFill>
              <a:srgbClr val="B8C3DF"/>
            </a:solidFill>
            <a:prstDash val="solid"/>
          </a:ln>
        </p:spPr>
      </p:sp>
      <p:sp>
        <p:nvSpPr>
          <p:cNvPr id="11" name="Text 9"/>
          <p:cNvSpPr/>
          <p:nvPr/>
        </p:nvSpPr>
        <p:spPr>
          <a:xfrm>
            <a:off x="1001078" y="6243518"/>
            <a:ext cx="2651403" cy="331351"/>
          </a:xfrm>
          <a:prstGeom prst="rect">
            <a:avLst/>
          </a:prstGeom>
          <a:noFill/>
          <a:ln/>
        </p:spPr>
        <p:txBody>
          <a:bodyPr wrap="none" lIns="0" tIns="0" rIns="0" bIns="0" rtlCol="0" anchor="t"/>
          <a:lstStyle/>
          <a:p>
            <a:pPr algn="l" indent="0" marL="0">
              <a:lnSpc>
                <a:spcPts val="2600"/>
              </a:lnSpc>
              <a:buNone/>
            </a:pPr>
            <a:r>
              <a:rPr lang="en-US" sz="2050" dirty="0">
                <a:solidFill>
                  <a:srgbClr val="404155"/>
                </a:solidFill>
                <a:latin typeface="Alexandria" pitchFamily="34" charset="0"/>
                <a:ea typeface="Alexandria" pitchFamily="34" charset="-122"/>
                <a:cs typeface="Alexandria" pitchFamily="34" charset="-120"/>
              </a:rPr>
              <a:t>Works Everywhere</a:t>
            </a:r>
            <a:endParaRPr lang="en-US" sz="2050" dirty="0"/>
          </a:p>
        </p:txBody>
      </p:sp>
      <p:sp>
        <p:nvSpPr>
          <p:cNvPr id="12" name="Text 10"/>
          <p:cNvSpPr/>
          <p:nvPr/>
        </p:nvSpPr>
        <p:spPr>
          <a:xfrm>
            <a:off x="1001078" y="6773228"/>
            <a:ext cx="5835729" cy="328374"/>
          </a:xfrm>
          <a:prstGeom prst="rect">
            <a:avLst/>
          </a:prstGeom>
          <a:noFill/>
          <a:ln/>
        </p:spPr>
        <p:txBody>
          <a:bodyPr wrap="none" lIns="0" tIns="0" rIns="0" bIns="0" rtlCol="0" anchor="t"/>
          <a:lstStyle/>
          <a:p>
            <a:pPr algn="l" indent="0" marL="0">
              <a:lnSpc>
                <a:spcPts val="2550"/>
              </a:lnSpc>
              <a:buNone/>
            </a:pPr>
            <a:r>
              <a:rPr lang="en-US" sz="1650" dirty="0">
                <a:solidFill>
                  <a:srgbClr val="404155"/>
                </a:solidFill>
                <a:latin typeface="Nobile" pitchFamily="34" charset="0"/>
                <a:ea typeface="Nobile" pitchFamily="34" charset="-122"/>
                <a:cs typeface="Nobile" pitchFamily="34" charset="-120"/>
              </a:rPr>
              <a:t>Containers work the same on any computer</a:t>
            </a:r>
            <a:endParaRPr lang="en-US" sz="1650" dirty="0"/>
          </a:p>
        </p:txBody>
      </p:sp>
      <p:sp>
        <p:nvSpPr>
          <p:cNvPr id="13" name="Shape 11"/>
          <p:cNvSpPr/>
          <p:nvPr/>
        </p:nvSpPr>
        <p:spPr>
          <a:xfrm>
            <a:off x="7581543" y="1868686"/>
            <a:ext cx="3818096" cy="2121098"/>
          </a:xfrm>
          <a:prstGeom prst="roundRect">
            <a:avLst>
              <a:gd name="adj" fmla="val 4200"/>
            </a:avLst>
          </a:prstGeom>
          <a:solidFill>
            <a:srgbClr val="DFDFE0"/>
          </a:solidFill>
          <a:ln/>
        </p:spPr>
      </p:sp>
      <p:pic>
        <p:nvPicPr>
          <p:cNvPr id="14" name="Image 0" descr="preencoded.png">    </p:cNvPr>
          <p:cNvPicPr>
            <a:picLocks noChangeAspect="1"/>
          </p:cNvPicPr>
          <p:nvPr/>
        </p:nvPicPr>
        <p:blipFill>
          <a:blip r:embed="rId1"/>
          <a:stretch>
            <a:fillRect/>
          </a:stretch>
        </p:blipFill>
        <p:spPr>
          <a:xfrm>
            <a:off x="9376291" y="2690693"/>
            <a:ext cx="228600" cy="228600"/>
          </a:xfrm>
          <a:prstGeom prst="rect">
            <a:avLst/>
          </a:prstGeom>
        </p:spPr>
      </p:pic>
      <p:sp>
        <p:nvSpPr>
          <p:cNvPr id="15" name="Text 12"/>
          <p:cNvSpPr/>
          <p:nvPr/>
        </p:nvSpPr>
        <p:spPr>
          <a:xfrm>
            <a:off x="8447603" y="3038832"/>
            <a:ext cx="2085975" cy="165140"/>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bile" pitchFamily="34" charset="0"/>
                <a:ea typeface="Nobile" pitchFamily="34" charset="-122"/>
                <a:cs typeface="Nobile" pitchFamily="34" charset="-120"/>
              </a:rPr>
              <a:t>There was an error generating this image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479846" y="2989183"/>
            <a:ext cx="5670590" cy="708779"/>
          </a:xfrm>
          <a:prstGeom prst="rect">
            <a:avLst/>
          </a:prstGeom>
          <a:noFill/>
          <a:ln/>
        </p:spPr>
        <p:txBody>
          <a:bodyPr wrap="none" lIns="0" tIns="0" rIns="0" bIns="0" rtlCol="0" anchor="t"/>
          <a:lstStyle/>
          <a:p>
            <a:pPr algn="ct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Conclusion</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algn="ctr" indent="0" marL="0">
              <a:lnSpc>
                <a:spcPts val="2850"/>
              </a:lnSpc>
              <a:buNone/>
            </a:pPr>
            <a:r>
              <a:rPr lang="en-US" sz="1750" dirty="0">
                <a:solidFill>
                  <a:srgbClr val="404155"/>
                </a:solidFill>
                <a:latin typeface="Nobile" pitchFamily="34" charset="0"/>
                <a:ea typeface="Nobile" pitchFamily="34" charset="-122"/>
                <a:cs typeface="Nobile" pitchFamily="34" charset="-120"/>
              </a:rPr>
              <a:t>Operating System-Level Virtualization, or containers, is changing how computers work. Instead of one program per computer, we can now run many programs on one computer safely and efficiently. This saves money, uses power better, and helps companies work faster. Containers are the future of computing!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479846" y="3760351"/>
            <a:ext cx="5670590" cy="708779"/>
          </a:xfrm>
          <a:prstGeom prst="rect">
            <a:avLst/>
          </a:prstGeom>
          <a:noFill/>
          <a:ln/>
        </p:spPr>
        <p:txBody>
          <a:bodyPr wrap="none" lIns="0" tIns="0" rIns="0" bIns="0" rtlCol="0" anchor="t"/>
          <a:lstStyle/>
          <a:p>
            <a:pPr algn="ct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2026-04-18T19:01:57Z</dcterms:created>
  <dcterms:modified xsi:type="dcterms:W3CDTF">2026-04-18T19:01:57Z</dcterms:modified>
</cp:coreProperties>
</file>